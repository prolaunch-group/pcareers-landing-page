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odoni Moda"/>
      <p:regular r:id="rId17"/>
    </p:embeddedFont>
    <p:embeddedFont>
      <p:font typeface="Bodoni Moda"/>
      <p:regular r:id="rId18"/>
    </p:embeddedFont>
    <p:embeddedFont>
      <p:font typeface="Public Sans"/>
      <p:regular r:id="rId19"/>
    </p:embeddedFont>
    <p:embeddedFont>
      <p:font typeface="Public Sans"/>
      <p:regular r:id="rId20"/>
    </p:embeddedFont>
    <p:embeddedFont>
      <p:font typeface="Public Sans"/>
      <p:regular r:id="rId21"/>
    </p:embeddedFont>
    <p:embeddedFont>
      <p:font typeface="Public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3E6A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1F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E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270"/>
            <a:ext cx="69774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3790" y="1587460"/>
            <a:ext cx="69774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005846"/>
            <a:ext cx="1039654" cy="297180"/>
          </a:xfrm>
          <a:prstGeom prst="roundRect">
            <a:avLst>
              <a:gd name="adj" fmla="val 20196"/>
            </a:avLst>
          </a:prstGeom>
          <a:solidFill>
            <a:srgbClr val="FFFEED"/>
          </a:solidFill>
          <a:ln/>
        </p:spPr>
      </p:sp>
      <p:sp>
        <p:nvSpPr>
          <p:cNvPr id="5" name="Text 3"/>
          <p:cNvSpPr/>
          <p:nvPr/>
        </p:nvSpPr>
        <p:spPr>
          <a:xfrm>
            <a:off x="900946" y="2059424"/>
            <a:ext cx="825341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KODE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2740" y="2005846"/>
            <a:ext cx="1526738" cy="297180"/>
          </a:xfrm>
          <a:prstGeom prst="roundRect">
            <a:avLst>
              <a:gd name="adj" fmla="val 20196"/>
            </a:avLst>
          </a:prstGeom>
          <a:solidFill>
            <a:srgbClr val="553726"/>
          </a:solidFill>
          <a:ln/>
        </p:spPr>
      </p:sp>
      <p:sp>
        <p:nvSpPr>
          <p:cNvPr id="7" name="Text 5"/>
          <p:cNvSpPr/>
          <p:nvPr/>
        </p:nvSpPr>
        <p:spPr>
          <a:xfrm>
            <a:off x="2029897" y="2059424"/>
            <a:ext cx="1312426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27TH MARCH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3790" y="2483882"/>
            <a:ext cx="69774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2882146"/>
            <a:ext cx="6977420" cy="26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5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ProLaunch</a:t>
            </a:r>
            <a:endParaRPr lang="en-US" sz="10500" dirty="0"/>
          </a:p>
          <a:p>
            <a:pPr algn="l" indent="0" marL="0">
              <a:lnSpc>
                <a:spcPts val="10500"/>
              </a:lnSpc>
              <a:buNone/>
            </a:pPr>
            <a:r>
              <a:rPr lang="en-US" sz="105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Careers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793790" y="5722263"/>
            <a:ext cx="69774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3790" y="6120527"/>
            <a:ext cx="385845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Audit, Setup &amp; Asset Gathering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93790" y="6549152"/>
            <a:ext cx="6977420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comprehensive weekly progress report covering operations, social media, software engineering, sales automation, and marketing outreach.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598" y="6786682"/>
            <a:ext cx="562951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71518"/>
            <a:ext cx="914281" cy="356592"/>
          </a:xfrm>
          <a:prstGeom prst="roundRect">
            <a:avLst>
              <a:gd name="adj" fmla="val 1870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738670"/>
            <a:ext cx="660916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07406"/>
            <a:ext cx="643044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What We're Covering Today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01196"/>
            <a:ext cx="198358" cy="1983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3165872"/>
            <a:ext cx="4215289" cy="22860"/>
          </a:xfrm>
          <a:prstGeom prst="rect">
            <a:avLst/>
          </a:prstGeom>
          <a:solidFill>
            <a:srgbClr val="E3E6A5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3310771"/>
            <a:ext cx="421528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ProLaunch Careers Overview &amp; Services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93790" y="3926086"/>
            <a:ext cx="4215289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Who they are, what they offer, and their core value proposition.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437" y="2901196"/>
            <a:ext cx="198358" cy="1983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07437" y="3165872"/>
            <a:ext cx="4215408" cy="22860"/>
          </a:xfrm>
          <a:prstGeom prst="rect">
            <a:avLst/>
          </a:prstGeom>
          <a:solidFill>
            <a:srgbClr val="C4D0D2"/>
          </a:solidFill>
          <a:ln/>
        </p:spPr>
      </p:sp>
      <p:sp>
        <p:nvSpPr>
          <p:cNvPr id="11" name="Text 7"/>
          <p:cNvSpPr/>
          <p:nvPr/>
        </p:nvSpPr>
        <p:spPr>
          <a:xfrm>
            <a:off x="5207437" y="3310771"/>
            <a:ext cx="421540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Competitive Analysis &amp; Gap Highlights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207437" y="3926086"/>
            <a:ext cx="4215408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Benchmarking against RemoteWorkPadi, GRSA, and CareerWise.io.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1203" y="2901196"/>
            <a:ext cx="198358" cy="19835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621203" y="3165872"/>
            <a:ext cx="4215289" cy="22860"/>
          </a:xfrm>
          <a:prstGeom prst="rect">
            <a:avLst/>
          </a:prstGeom>
          <a:solidFill>
            <a:srgbClr val="FFDFD7"/>
          </a:solidFill>
          <a:ln/>
        </p:spPr>
      </p:sp>
      <p:sp>
        <p:nvSpPr>
          <p:cNvPr id="15" name="Text 10"/>
          <p:cNvSpPr/>
          <p:nvPr/>
        </p:nvSpPr>
        <p:spPr>
          <a:xfrm>
            <a:off x="9621203" y="3310771"/>
            <a:ext cx="4215289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Operations &amp; Workflow Optimization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9621203" y="3926086"/>
            <a:ext cx="4215289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Trello setup, task ownership, and automation implementation.</a:t>
            </a:r>
            <a:endParaRPr lang="en-US" sz="1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828818"/>
            <a:ext cx="198358" cy="19835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3790" y="5093494"/>
            <a:ext cx="4215289" cy="22860"/>
          </a:xfrm>
          <a:prstGeom prst="rect">
            <a:avLst/>
          </a:prstGeom>
          <a:solidFill>
            <a:srgbClr val="E3E6A5"/>
          </a:solidFill>
          <a:ln/>
        </p:spPr>
      </p:sp>
      <p:sp>
        <p:nvSpPr>
          <p:cNvPr id="19" name="Text 13"/>
          <p:cNvSpPr/>
          <p:nvPr/>
        </p:nvSpPr>
        <p:spPr>
          <a:xfrm>
            <a:off x="793790" y="5238393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Social Media Audit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793790" y="5605582"/>
            <a:ext cx="4215289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Channel activity review and upcoming content strategy.</a:t>
            </a:r>
            <a:endParaRPr lang="en-US" sz="15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7437" y="4828818"/>
            <a:ext cx="198358" cy="19835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207437" y="5093494"/>
            <a:ext cx="4215408" cy="22860"/>
          </a:xfrm>
          <a:prstGeom prst="rect">
            <a:avLst/>
          </a:prstGeom>
          <a:solidFill>
            <a:srgbClr val="C4D0D2"/>
          </a:solidFill>
          <a:ln/>
        </p:spPr>
      </p:sp>
      <p:sp>
        <p:nvSpPr>
          <p:cNvPr id="23" name="Text 16"/>
          <p:cNvSpPr/>
          <p:nvPr/>
        </p:nvSpPr>
        <p:spPr>
          <a:xfrm>
            <a:off x="5207437" y="5238393"/>
            <a:ext cx="421540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Software Engineering, Sales &amp; Marketing Reports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5207437" y="5853708"/>
            <a:ext cx="4215408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Landing page, lead automation, outreach results, and testimonials.</a:t>
            </a:r>
            <a:endParaRPr lang="en-US" sz="15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21203" y="4828818"/>
            <a:ext cx="198358" cy="19835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621203" y="5093494"/>
            <a:ext cx="4215289" cy="22860"/>
          </a:xfrm>
          <a:prstGeom prst="rect">
            <a:avLst/>
          </a:prstGeom>
          <a:solidFill>
            <a:srgbClr val="FFDFD7"/>
          </a:solidFill>
          <a:ln/>
        </p:spPr>
      </p:sp>
      <p:sp>
        <p:nvSpPr>
          <p:cNvPr id="27" name="Text 19"/>
          <p:cNvSpPr/>
          <p:nvPr/>
        </p:nvSpPr>
        <p:spPr>
          <a:xfrm>
            <a:off x="9621203" y="5238393"/>
            <a:ext cx="2838926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Conclusion &amp; Next Steps</a:t>
            </a:r>
            <a:endParaRPr lang="en-US" sz="1950" dirty="0"/>
          </a:p>
        </p:txBody>
      </p:sp>
      <p:sp>
        <p:nvSpPr>
          <p:cNvPr id="28" name="Text 20"/>
          <p:cNvSpPr/>
          <p:nvPr/>
        </p:nvSpPr>
        <p:spPr>
          <a:xfrm>
            <a:off x="9621203" y="5605582"/>
            <a:ext cx="4215289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wins, deliverables, and the 30-day content calendar outlook.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33669"/>
            <a:ext cx="1437442" cy="356592"/>
          </a:xfrm>
          <a:prstGeom prst="roundRect">
            <a:avLst>
              <a:gd name="adj" fmla="val 1870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800820"/>
            <a:ext cx="1184077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69557"/>
            <a:ext cx="966716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ProLaunch Careers – Overview &amp; Services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63347"/>
            <a:ext cx="595313" cy="595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7109" y="2963347"/>
            <a:ext cx="12199501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"Helping early remote professionals secure high-paying jobs through career coaching, CV optimization, and LinkedIn branding."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637109" y="3578662"/>
            <a:ext cx="12199501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ProLaunch Careers is a career grooming organization dedicated to equipping professionals with the tools, mentorship, and personal branding needed to land remote, high-paying foreign-currency roles.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3790" y="4357449"/>
            <a:ext cx="3111937" cy="2138363"/>
          </a:xfrm>
          <a:prstGeom prst="roundRect">
            <a:avLst>
              <a:gd name="adj" fmla="val 3898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9768" y="4563428"/>
            <a:ext cx="2699980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Career Grooming Bootcamp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9768" y="5178743"/>
            <a:ext cx="2699980" cy="111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Intensive structured program to transform job seekers into competitive remote professionals.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104084" y="4357449"/>
            <a:ext cx="3111937" cy="2138363"/>
          </a:xfrm>
          <a:prstGeom prst="roundRect">
            <a:avLst>
              <a:gd name="adj" fmla="val 3898"/>
            </a:avLst>
          </a:prstGeom>
          <a:solidFill>
            <a:srgbClr val="C4D0D2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10063" y="4563428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1-on-1 Coaching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310063" y="4930616"/>
            <a:ext cx="2699980" cy="111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Personalized sessions tailored to each candidate's career goals and target market.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414379" y="4357449"/>
            <a:ext cx="3111937" cy="2138363"/>
          </a:xfrm>
          <a:prstGeom prst="roundRect">
            <a:avLst>
              <a:gd name="adj" fmla="val 3898"/>
            </a:avLst>
          </a:prstGeom>
          <a:solidFill>
            <a:srgbClr val="FFDFD7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0357" y="4563428"/>
            <a:ext cx="256091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Professional Branding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7620357" y="4930616"/>
            <a:ext cx="2699980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CV rebuilding, LinkedIn optimization, and online presence authority building.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0724674" y="4357449"/>
            <a:ext cx="3111937" cy="2138363"/>
          </a:xfrm>
          <a:prstGeom prst="roundRect">
            <a:avLst>
              <a:gd name="adj" fmla="val 3898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30652" y="4563428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Remote Job Focus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930652" y="4930616"/>
            <a:ext cx="2699980" cy="111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Mentorship and curated job updates for remote work opportunities in foreign currency.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2227"/>
            <a:ext cx="1903809" cy="312420"/>
          </a:xfrm>
          <a:prstGeom prst="roundRect">
            <a:avLst>
              <a:gd name="adj" fmla="val 1921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8566" y="733425"/>
            <a:ext cx="1674257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48941"/>
            <a:ext cx="805195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5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Competitive Analysis &amp; Gap Highlights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93790" y="1881307"/>
            <a:ext cx="630352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Analysis of three leading Nigerian creative and digital career agencies: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0930" y="2299692"/>
            <a:ext cx="6349246" cy="45720"/>
          </a:xfrm>
          <a:prstGeom prst="rect">
            <a:avLst/>
          </a:prstGeom>
          <a:solidFill>
            <a:srgbClr val="E3E6A5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524006"/>
            <a:ext cx="267938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RemoteWorkPadi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3790" y="2952631"/>
            <a:ext cx="6303526" cy="82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Established remote work community platform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Strong social media presence and engagement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Community-first approach to job placement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0930" y="4099084"/>
            <a:ext cx="6349246" cy="45720"/>
          </a:xfrm>
          <a:prstGeom prst="rect">
            <a:avLst/>
          </a:prstGeom>
          <a:solidFill>
            <a:srgbClr val="C4D0D2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4323398"/>
            <a:ext cx="267938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GRSA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93790" y="4752023"/>
            <a:ext cx="6303526" cy="82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Creative and digital agency with wide reach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Focused on skills development and training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Premium pricing model targeting mid-level professionals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0930" y="5898475"/>
            <a:ext cx="6349246" cy="45720"/>
          </a:xfrm>
          <a:prstGeom prst="rect">
            <a:avLst/>
          </a:prstGeom>
          <a:solidFill>
            <a:srgbClr val="FFDFD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6122789"/>
            <a:ext cx="267938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CareerWise.io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790" y="6551414"/>
            <a:ext cx="6303526" cy="82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Tech-forward career advisory platform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Data-driven job matching capabilities</a:t>
            </a:r>
            <a:endParaRPr lang="en-US" sz="14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Strong emphasis on digital credentialing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0704" y="1897380"/>
            <a:ext cx="374558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ProLaunch Competitive Advantages: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0704" y="2281357"/>
            <a:ext cx="6303526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ProLaunch Careers has a strong foundation and competitive advantages in pricing and accessibility.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0704" y="2937272"/>
            <a:ext cx="6303526" cy="1306592"/>
          </a:xfrm>
          <a:prstGeom prst="roundRect">
            <a:avLst>
              <a:gd name="adj" fmla="val 8398"/>
            </a:avLst>
          </a:prstGeom>
          <a:solidFill>
            <a:srgbClr val="FFFEED"/>
          </a:solidFill>
          <a:ln w="22860">
            <a:solidFill>
              <a:srgbClr val="E3E6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7844" y="2937272"/>
            <a:ext cx="91440" cy="1306592"/>
          </a:xfrm>
          <a:prstGeom prst="roundRect">
            <a:avLst>
              <a:gd name="adj" fmla="val 82047"/>
            </a:avLst>
          </a:prstGeom>
          <a:solidFill>
            <a:srgbClr val="E3E6A5"/>
          </a:solidFill>
          <a:ln/>
        </p:spPr>
      </p:sp>
      <p:sp>
        <p:nvSpPr>
          <p:cNvPr id="19" name="Text 17"/>
          <p:cNvSpPr/>
          <p:nvPr/>
        </p:nvSpPr>
        <p:spPr>
          <a:xfrm>
            <a:off x="7810738" y="3138726"/>
            <a:ext cx="2835831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Pricing &amp; Accessibility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10738" y="3567351"/>
            <a:ext cx="583203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accessible and affordably priced compared to competitors, lowering barriers for early-stage professionals.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0704" y="4404598"/>
            <a:ext cx="6303526" cy="1306592"/>
          </a:xfrm>
          <a:prstGeom prst="roundRect">
            <a:avLst>
              <a:gd name="adj" fmla="val 8398"/>
            </a:avLst>
          </a:prstGeom>
          <a:solidFill>
            <a:srgbClr val="FFFEED"/>
          </a:solidFill>
          <a:ln w="22860">
            <a:solidFill>
              <a:srgbClr val="C4D0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7844" y="4404598"/>
            <a:ext cx="91440" cy="1306592"/>
          </a:xfrm>
          <a:prstGeom prst="roundRect">
            <a:avLst>
              <a:gd name="adj" fmla="val 82047"/>
            </a:avLst>
          </a:prstGeom>
          <a:solidFill>
            <a:srgbClr val="C4D0D2"/>
          </a:solidFill>
          <a:ln/>
        </p:spPr>
      </p:sp>
      <p:sp>
        <p:nvSpPr>
          <p:cNvPr id="23" name="Text 21"/>
          <p:cNvSpPr/>
          <p:nvPr/>
        </p:nvSpPr>
        <p:spPr>
          <a:xfrm>
            <a:off x="7810738" y="4606052"/>
            <a:ext cx="267938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Niche Remote Focus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10738" y="5034677"/>
            <a:ext cx="583203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Uniquely positioned on foreign-currency remote jobs — a gap competitors have not fully addressed.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0704" y="5871924"/>
            <a:ext cx="6303526" cy="1306592"/>
          </a:xfrm>
          <a:prstGeom prst="roundRect">
            <a:avLst>
              <a:gd name="adj" fmla="val 8398"/>
            </a:avLst>
          </a:prstGeom>
          <a:solidFill>
            <a:srgbClr val="FFFEED"/>
          </a:solidFill>
          <a:ln w="22860">
            <a:solidFill>
              <a:srgbClr val="FFDF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7844" y="5871924"/>
            <a:ext cx="91440" cy="1306592"/>
          </a:xfrm>
          <a:prstGeom prst="roundRect">
            <a:avLst>
              <a:gd name="adj" fmla="val 82047"/>
            </a:avLst>
          </a:prstGeom>
          <a:solidFill>
            <a:srgbClr val="FFDFD7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738" y="6073378"/>
            <a:ext cx="2723912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End-to-End Grooming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810738" y="6502003"/>
            <a:ext cx="583203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Combines CV, LinkedIn, coaching, and job updates in a single cohesive offering.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85230"/>
            <a:ext cx="1258610" cy="356592"/>
          </a:xfrm>
          <a:prstGeom prst="roundRect">
            <a:avLst>
              <a:gd name="adj" fmla="val 1870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952381"/>
            <a:ext cx="1005245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21118"/>
            <a:ext cx="856333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Operations &amp; Workflow Optimization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114907"/>
            <a:ext cx="13042821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week, we established a fully functional operational backbone to drive team efficiency and accountability going forward.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913578"/>
            <a:ext cx="6422231" cy="1967389"/>
          </a:xfrm>
          <a:prstGeom prst="roundRect">
            <a:avLst>
              <a:gd name="adj" fmla="val 5577"/>
            </a:avLst>
          </a:prstGeom>
          <a:solidFill>
            <a:srgbClr val="FFFEED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890718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E3E6A5"/>
          </a:solidFill>
          <a:ln/>
        </p:spPr>
      </p:sp>
      <p:sp>
        <p:nvSpPr>
          <p:cNvPr id="8" name="Shape 6"/>
          <p:cNvSpPr/>
          <p:nvPr/>
        </p:nvSpPr>
        <p:spPr>
          <a:xfrm>
            <a:off x="3707249" y="261592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3E6A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843" y="2794516"/>
            <a:ext cx="238125" cy="238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15008" y="3409712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Trello Board Setup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15008" y="3826431"/>
            <a:ext cx="5979795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up a fully functional Trello board for operations, structured with clear task ownership and defined deadlines across all team functions.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414379" y="2913578"/>
            <a:ext cx="6422231" cy="1967389"/>
          </a:xfrm>
          <a:prstGeom prst="roundRect">
            <a:avLst>
              <a:gd name="adj" fmla="val 5577"/>
            </a:avLst>
          </a:prstGeom>
          <a:solidFill>
            <a:srgbClr val="FFFEED"/>
          </a:solidFill>
          <a:ln/>
        </p:spPr>
      </p:sp>
      <p:sp>
        <p:nvSpPr>
          <p:cNvPr id="13" name="Shape 10"/>
          <p:cNvSpPr/>
          <p:nvPr/>
        </p:nvSpPr>
        <p:spPr>
          <a:xfrm>
            <a:off x="7414379" y="2890718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C4D0D2"/>
          </a:solidFill>
          <a:ln/>
        </p:spPr>
      </p:sp>
      <p:sp>
        <p:nvSpPr>
          <p:cNvPr id="14" name="Shape 11"/>
          <p:cNvSpPr/>
          <p:nvPr/>
        </p:nvSpPr>
        <p:spPr>
          <a:xfrm>
            <a:off x="10327838" y="261592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4D0D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6432" y="2794516"/>
            <a:ext cx="238125" cy="238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597" y="3409712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Task Automation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7635597" y="3826431"/>
            <a:ext cx="5979795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Implemented automations for task tracking and reminders to ensure no deliverables fall through the cracks and timelines are respected.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793790" y="5376982"/>
            <a:ext cx="6422231" cy="1967389"/>
          </a:xfrm>
          <a:prstGeom prst="roundRect">
            <a:avLst>
              <a:gd name="adj" fmla="val 5577"/>
            </a:avLst>
          </a:prstGeom>
          <a:solidFill>
            <a:srgbClr val="FFFEED"/>
          </a:solidFill>
          <a:ln/>
        </p:spPr>
      </p:sp>
      <p:sp>
        <p:nvSpPr>
          <p:cNvPr id="19" name="Shape 15"/>
          <p:cNvSpPr/>
          <p:nvPr/>
        </p:nvSpPr>
        <p:spPr>
          <a:xfrm>
            <a:off x="793790" y="5354122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FFDFD7"/>
          </a:solidFill>
          <a:ln/>
        </p:spPr>
      </p:sp>
      <p:sp>
        <p:nvSpPr>
          <p:cNvPr id="20" name="Shape 16"/>
          <p:cNvSpPr/>
          <p:nvPr/>
        </p:nvSpPr>
        <p:spPr>
          <a:xfrm>
            <a:off x="3707249" y="507932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FFDFD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5843" y="5257919"/>
            <a:ext cx="238125" cy="238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15008" y="5873115"/>
            <a:ext cx="330541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Standardized Templates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1015008" y="6289834"/>
            <a:ext cx="5979795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standardized templates and labels for team alignment, ensuring consistent communication and uniform output across all departments.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7414379" y="5376982"/>
            <a:ext cx="6422231" cy="1967389"/>
          </a:xfrm>
          <a:prstGeom prst="roundRect">
            <a:avLst>
              <a:gd name="adj" fmla="val 5577"/>
            </a:avLst>
          </a:prstGeom>
          <a:solidFill>
            <a:srgbClr val="FFFEED"/>
          </a:solidFill>
          <a:ln/>
        </p:spPr>
      </p:sp>
      <p:sp>
        <p:nvSpPr>
          <p:cNvPr id="25" name="Shape 20"/>
          <p:cNvSpPr/>
          <p:nvPr/>
        </p:nvSpPr>
        <p:spPr>
          <a:xfrm>
            <a:off x="7414379" y="5354122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E3E6A5"/>
          </a:solidFill>
          <a:ln/>
        </p:spPr>
      </p:sp>
      <p:sp>
        <p:nvSpPr>
          <p:cNvPr id="26" name="Shape 21"/>
          <p:cNvSpPr/>
          <p:nvPr/>
        </p:nvSpPr>
        <p:spPr>
          <a:xfrm>
            <a:off x="10327838" y="507932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3E6A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6432" y="5257919"/>
            <a:ext cx="238125" cy="238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35597" y="5873115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Smooth Workflow</a:t>
            </a:r>
            <a:endParaRPr lang="en-US" sz="2300" dirty="0"/>
          </a:p>
        </p:txBody>
      </p:sp>
      <p:sp>
        <p:nvSpPr>
          <p:cNvPr id="29" name="Text 23"/>
          <p:cNvSpPr/>
          <p:nvPr/>
        </p:nvSpPr>
        <p:spPr>
          <a:xfrm>
            <a:off x="7635597" y="6289834"/>
            <a:ext cx="5979795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Ensured smooth workflow execution with no major delays — all initial operational milestones achieved within the first week of engagement.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5325"/>
            <a:ext cx="1309926" cy="334208"/>
          </a:xfrm>
          <a:prstGeom prst="roundRect">
            <a:avLst>
              <a:gd name="adj" fmla="val 18956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519" y="759500"/>
            <a:ext cx="1068467" cy="20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SOCIAL MEDIA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101090"/>
            <a:ext cx="4713684" cy="47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Social Media Audit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841063"/>
            <a:ext cx="13042821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comprehensive audit of ProLaunch Careers' social media channels was conducted this week, revealing active channel presence with clear opportunities for deeper audience trust-building.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2557343"/>
            <a:ext cx="22860" cy="4976813"/>
          </a:xfrm>
          <a:prstGeom prst="roundRect">
            <a:avLst>
              <a:gd name="adj" fmla="val 34641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95090" y="2757964"/>
            <a:ext cx="565547" cy="22860"/>
          </a:xfrm>
          <a:prstGeom prst="roundRect">
            <a:avLst>
              <a:gd name="adj" fmla="val 346419"/>
            </a:avLst>
          </a:prstGeom>
          <a:solidFill>
            <a:srgbClr val="C9CC8B"/>
          </a:solidFill>
          <a:ln/>
        </p:spPr>
      </p:sp>
      <p:sp>
        <p:nvSpPr>
          <p:cNvPr id="8" name="Shape 6"/>
          <p:cNvSpPr/>
          <p:nvPr/>
        </p:nvSpPr>
        <p:spPr>
          <a:xfrm>
            <a:off x="793730" y="2557343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4394" y="2628007"/>
            <a:ext cx="282773" cy="2827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48577" y="2627948"/>
            <a:ext cx="28282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Audit Completed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48577" y="3018115"/>
            <a:ext cx="1188803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Conducted a full social media audit across active channels. Findings confirm strong and consistent activity levels, with regular posting cadence already established.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95090" y="4091702"/>
            <a:ext cx="565547" cy="22860"/>
          </a:xfrm>
          <a:prstGeom prst="roundRect">
            <a:avLst>
              <a:gd name="adj" fmla="val 346419"/>
            </a:avLst>
          </a:prstGeom>
          <a:solidFill>
            <a:srgbClr val="AAB6B8"/>
          </a:solidFill>
          <a:ln/>
        </p:spPr>
      </p:sp>
      <p:sp>
        <p:nvSpPr>
          <p:cNvPr id="13" name="Shape 10"/>
          <p:cNvSpPr/>
          <p:nvPr/>
        </p:nvSpPr>
        <p:spPr>
          <a:xfrm>
            <a:off x="793730" y="3891082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C4D0D2"/>
          </a:solidFill>
          <a:ln w="7620">
            <a:solidFill>
              <a:srgbClr val="AAB6B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394" y="3961745"/>
            <a:ext cx="282773" cy="2827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48577" y="3961686"/>
            <a:ext cx="4985504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Next Week's Focus: Real Human Faces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948577" y="4351853"/>
            <a:ext cx="1188803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Content strategy will shift to featuring real human faces — team members, clients, and success stories — to move beyond graphics and carousels.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1195090" y="5425440"/>
            <a:ext cx="565547" cy="22860"/>
          </a:xfrm>
          <a:prstGeom prst="roundRect">
            <a:avLst>
              <a:gd name="adj" fmla="val 346419"/>
            </a:avLst>
          </a:prstGeom>
          <a:solidFill>
            <a:srgbClr val="E5C5BD"/>
          </a:solidFill>
          <a:ln/>
        </p:spPr>
      </p:sp>
      <p:sp>
        <p:nvSpPr>
          <p:cNvPr id="18" name="Shape 14"/>
          <p:cNvSpPr/>
          <p:nvPr/>
        </p:nvSpPr>
        <p:spPr>
          <a:xfrm>
            <a:off x="793730" y="5224820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FFDFD7"/>
          </a:solidFill>
          <a:ln w="7620">
            <a:solidFill>
              <a:srgbClr val="E5C5B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394" y="5295483"/>
            <a:ext cx="282773" cy="2827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48577" y="5295424"/>
            <a:ext cx="3615214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Goal: Build Consumer Trust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948577" y="5685592"/>
            <a:ext cx="1188803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Authentic face-forward content builds consumer trust more effectively than purely graphic or carousel-based posts, humanizing the ProLaunch brand.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1195090" y="6759178"/>
            <a:ext cx="565547" cy="22860"/>
          </a:xfrm>
          <a:prstGeom prst="roundRect">
            <a:avLst>
              <a:gd name="adj" fmla="val 346419"/>
            </a:avLst>
          </a:prstGeom>
          <a:solidFill>
            <a:srgbClr val="C9CC8B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730" y="6558558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394" y="6629221"/>
            <a:ext cx="282773" cy="2827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48577" y="6629162"/>
            <a:ext cx="282821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Expected Outcome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948577" y="7019330"/>
            <a:ext cx="1188803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Increased brand visibility and engagement, supporting authentic growth and positioning ProLaunch Careers as a credible, people-first organization.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14124"/>
            <a:ext cx="2250519" cy="356592"/>
          </a:xfrm>
          <a:prstGeom prst="roundRect">
            <a:avLst>
              <a:gd name="adj" fmla="val 1870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681276"/>
            <a:ext cx="199715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SOFTWARE ENGINEERING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50012"/>
            <a:ext cx="863226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Landing Page &amp; Lead Capture System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042160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What Was Built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2513528"/>
            <a:ext cx="3040499" cy="2525078"/>
          </a:xfrm>
          <a:prstGeom prst="roundRect">
            <a:avLst>
              <a:gd name="adj" fmla="val 3301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2719507"/>
            <a:ext cx="2628543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Responsive Landing Page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3414117"/>
            <a:ext cx="2628543" cy="111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Mobile-first, single-page architecture built with HTML, CSS, and JavaScript to improve lead generation.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032647" y="2513528"/>
            <a:ext cx="3040499" cy="2525078"/>
          </a:xfrm>
          <a:prstGeom prst="roundRect">
            <a:avLst>
              <a:gd name="adj" fmla="val 3301"/>
            </a:avLst>
          </a:prstGeom>
          <a:solidFill>
            <a:srgbClr val="C4D0D2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8625" y="2719507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Lead Capture System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238625" y="3165991"/>
            <a:ext cx="2628543" cy="166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Implemented input validation, Zapier integration for automated lead tracking, and a success redirect page for conversion tracking.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261848"/>
            <a:ext cx="6279356" cy="1081207"/>
          </a:xfrm>
          <a:prstGeom prst="roundRect">
            <a:avLst>
              <a:gd name="adj" fmla="val 7710"/>
            </a:avLst>
          </a:prstGeom>
          <a:solidFill>
            <a:srgbClr val="E7D5C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541883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38513" y="5509736"/>
            <a:ext cx="5436275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Decision:</a:t>
            </a:r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Vanilla JavaScript was chosen for speed, better SEO, and simple deployment.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2042160"/>
            <a:ext cx="2480905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Business Impact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564874" y="2513528"/>
            <a:ext cx="6279356" cy="1493996"/>
          </a:xfrm>
          <a:prstGeom prst="roundRect">
            <a:avLst>
              <a:gd name="adj" fmla="val 7345"/>
            </a:avLst>
          </a:prstGeom>
          <a:solidFill>
            <a:srgbClr val="FFFEED"/>
          </a:solidFill>
          <a:ln w="22860">
            <a:solidFill>
              <a:srgbClr val="E3E6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2014" y="2513528"/>
            <a:ext cx="91440" cy="1493996"/>
          </a:xfrm>
          <a:prstGeom prst="roundRect">
            <a:avLst>
              <a:gd name="adj" fmla="val 91163"/>
            </a:avLst>
          </a:prstGeom>
          <a:solidFill>
            <a:srgbClr val="E3E6A5"/>
          </a:solidFill>
          <a:ln/>
        </p:spPr>
      </p:sp>
      <p:sp>
        <p:nvSpPr>
          <p:cNvPr id="18" name="Text 15"/>
          <p:cNvSpPr/>
          <p:nvPr/>
        </p:nvSpPr>
        <p:spPr>
          <a:xfrm>
            <a:off x="7854672" y="2734747"/>
            <a:ext cx="352246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Replaced Manual Process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54672" y="3230761"/>
            <a:ext cx="5768340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Eliminated reliance on manual DM and WhatsApp lead collection, creating a scalable, trackable funnel.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564874" y="4205883"/>
            <a:ext cx="6279356" cy="1493996"/>
          </a:xfrm>
          <a:prstGeom prst="roundRect">
            <a:avLst>
              <a:gd name="adj" fmla="val 7345"/>
            </a:avLst>
          </a:prstGeom>
          <a:solidFill>
            <a:srgbClr val="FFFEED"/>
          </a:solidFill>
          <a:ln w="22860">
            <a:solidFill>
              <a:srgbClr val="C4D0D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2014" y="4205883"/>
            <a:ext cx="91440" cy="1493996"/>
          </a:xfrm>
          <a:prstGeom prst="roundRect">
            <a:avLst>
              <a:gd name="adj" fmla="val 91163"/>
            </a:avLst>
          </a:prstGeom>
          <a:solidFill>
            <a:srgbClr val="C4D0D2"/>
          </a:solidFill>
          <a:ln/>
        </p:spPr>
      </p:sp>
      <p:sp>
        <p:nvSpPr>
          <p:cNvPr id="22" name="Text 19"/>
          <p:cNvSpPr/>
          <p:nvPr/>
        </p:nvSpPr>
        <p:spPr>
          <a:xfrm>
            <a:off x="7854672" y="4427101"/>
            <a:ext cx="341328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Improved Lead Tracking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7854672" y="4923115"/>
            <a:ext cx="5768340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follow-up gaps and ensured no lead is lost through automated capture and storage.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7564874" y="5898237"/>
            <a:ext cx="6279356" cy="1493996"/>
          </a:xfrm>
          <a:prstGeom prst="roundRect">
            <a:avLst>
              <a:gd name="adj" fmla="val 7345"/>
            </a:avLst>
          </a:prstGeom>
          <a:solidFill>
            <a:srgbClr val="FFFEED"/>
          </a:solidFill>
          <a:ln w="22860">
            <a:solidFill>
              <a:srgbClr val="FFDFD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42014" y="5898237"/>
            <a:ext cx="91440" cy="1493996"/>
          </a:xfrm>
          <a:prstGeom prst="roundRect">
            <a:avLst>
              <a:gd name="adj" fmla="val 91163"/>
            </a:avLst>
          </a:prstGeom>
          <a:solidFill>
            <a:srgbClr val="FFDFD7"/>
          </a:solidFill>
          <a:ln/>
        </p:spPr>
      </p:sp>
      <p:sp>
        <p:nvSpPr>
          <p:cNvPr id="26" name="Text 23"/>
          <p:cNvSpPr/>
          <p:nvPr/>
        </p:nvSpPr>
        <p:spPr>
          <a:xfrm>
            <a:off x="7854672" y="6119455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Brand Credibility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7854672" y="6615470"/>
            <a:ext cx="5768340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Strengthened credibility with social proof and created a clear funnel from free users to paid clients.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67333"/>
            <a:ext cx="1188244" cy="334208"/>
          </a:xfrm>
          <a:prstGeom prst="roundRect">
            <a:avLst>
              <a:gd name="adj" fmla="val 18956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519" y="631507"/>
            <a:ext cx="946785" cy="20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SALES TEAM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973098"/>
            <a:ext cx="10531912" cy="47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Lead Capture Automation – Webhook Workflow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713071"/>
            <a:ext cx="13042821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sales team built a fully automated real-time lead capture system using Zapier webhooks, replacing all manual data entry processes.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789992" y="2692003"/>
            <a:ext cx="23568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Form Submission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3035141"/>
            <a:ext cx="4353044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fills out the landing page form capturing name, email, WhatsApp, and niche.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6834" y="2171938"/>
            <a:ext cx="4336733" cy="4336733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2882" y="3417987"/>
            <a:ext cx="265033" cy="2650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83566" y="2692003"/>
            <a:ext cx="23568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Webhook Triggered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483566" y="3035141"/>
            <a:ext cx="4353044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is captured instantly via Zapier webhook as soon as the form is submitted.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834" y="2171938"/>
            <a:ext cx="4336733" cy="4336733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2246" y="3417987"/>
            <a:ext cx="265033" cy="2650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83566" y="4873109"/>
            <a:ext cx="243935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Google Sheets Storage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483566" y="5216247"/>
            <a:ext cx="4353044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Lead information is stored automatically in a structured Google Sheets format for organized management.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6834" y="2171938"/>
            <a:ext cx="4336733" cy="4336733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2246" y="4997351"/>
            <a:ext cx="265033" cy="26503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789992" y="4873109"/>
            <a:ext cx="23568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Automated Email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793790" y="5216247"/>
            <a:ext cx="4353044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welcome confirmation email is sent automatically via Gmail — ensuring instant communication with every lead.</a:t>
            </a:r>
            <a:endParaRPr lang="en-US" sz="14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6834" y="2171938"/>
            <a:ext cx="4336733" cy="4336733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2882" y="4997351"/>
            <a:ext cx="265033" cy="265033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6710124"/>
            <a:ext cx="377071" cy="37707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94698" y="6804303"/>
            <a:ext cx="257758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Zero Manual Data Entry</a:t>
            </a:r>
            <a:endParaRPr lang="en-US" sz="1850" dirty="0"/>
          </a:p>
        </p:txBody>
      </p:sp>
      <p:sp>
        <p:nvSpPr>
          <p:cNvPr id="24" name="Text 13"/>
          <p:cNvSpPr/>
          <p:nvPr/>
        </p:nvSpPr>
        <p:spPr>
          <a:xfrm>
            <a:off x="1394698" y="7147441"/>
            <a:ext cx="580858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Eliminated manual data entry entirely, improving speed, response time, and organized lead management at scale.</a:t>
            </a:r>
            <a:endParaRPr lang="en-US" sz="14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27119" y="6710124"/>
            <a:ext cx="377071" cy="377071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028027" y="6804303"/>
            <a:ext cx="313062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Instant Lead Communication</a:t>
            </a:r>
            <a:endParaRPr lang="en-US" sz="1850" dirty="0"/>
          </a:p>
        </p:txBody>
      </p:sp>
      <p:sp>
        <p:nvSpPr>
          <p:cNvPr id="27" name="Text 15"/>
          <p:cNvSpPr/>
          <p:nvPr/>
        </p:nvSpPr>
        <p:spPr>
          <a:xfrm>
            <a:off x="8028027" y="7147441"/>
            <a:ext cx="5808583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lead receives immediate follow-up, closing the gap between interest and first contact with ProLaunch Careers.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04768"/>
            <a:ext cx="1681996" cy="356592"/>
          </a:xfrm>
          <a:prstGeom prst="roundRect">
            <a:avLst>
              <a:gd name="adj" fmla="val 18701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071920"/>
            <a:ext cx="1428631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MARKETING TEAM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40656"/>
            <a:ext cx="1068252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Outreach Performance &amp; Engagement Insights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34446"/>
            <a:ext cx="13042821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Focus: Converting webinar attendees into warm leads through targeted outreach and testimonial collection.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E3E6A5"/>
          </a:solidFill>
          <a:ln/>
        </p:spPr>
      </p:sp>
      <p:sp>
        <p:nvSpPr>
          <p:cNvPr id="7" name="Shape 5"/>
          <p:cNvSpPr/>
          <p:nvPr/>
        </p:nvSpPr>
        <p:spPr>
          <a:xfrm>
            <a:off x="1011912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E3E6A5"/>
          </a:solidFill>
          <a:ln/>
        </p:spPr>
      </p:sp>
      <p:sp>
        <p:nvSpPr>
          <p:cNvPr id="8" name="Shape 6"/>
          <p:cNvSpPr/>
          <p:nvPr/>
        </p:nvSpPr>
        <p:spPr>
          <a:xfrm>
            <a:off x="1230035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8157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6280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3466" y="2809756"/>
            <a:ext cx="25527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41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3281005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Prospects in Dataset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3790" y="3697724"/>
            <a:ext cx="4182189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Cleaned and organized attendee dataset of 41 webinar prospects for targeted outreach via email and LinkedIn.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223986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2109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0231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8354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476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3663" y="2809756"/>
            <a:ext cx="24800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223986" y="3281005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Responses Received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23986" y="3697724"/>
            <a:ext cx="4182308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 responses received from 41 outreach prospects — establishing the initial engagement and feedback loop.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654302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2424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90547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08669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26792" y="2834640"/>
            <a:ext cx="198358" cy="198358"/>
          </a:xfrm>
          <a:prstGeom prst="roundRect">
            <a:avLst>
              <a:gd name="adj" fmla="val 230492"/>
            </a:avLst>
          </a:prstGeom>
          <a:solidFill>
            <a:srgbClr val="FFFEED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3978" y="2809756"/>
            <a:ext cx="24800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6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654302" y="3281005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Positive Testimonials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9654302" y="3697724"/>
            <a:ext cx="4182308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 high-quality positive testimonials collected via Google Form — immediately usable for marketing and social proof.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93790" y="4754285"/>
            <a:ext cx="13042821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93790" y="5329714"/>
            <a:ext cx="297703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What Was Executed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793790" y="592502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5999440"/>
            <a:ext cx="297656" cy="29765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38632" y="6024205"/>
            <a:ext cx="3378279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Targeted Outreach Campaign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438632" y="6391394"/>
            <a:ext cx="12397978" cy="833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and sent targeted outreach emails to webinar participants. Designed a Google Form to collect structured feedback and testimonials. Conducted multi-channel outreach via email and LinkedIn. Identified non-attendees and engagement gaps for future follow-up strategy.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593765"/>
            <a:ext cx="1229916" cy="334208"/>
          </a:xfrm>
          <a:prstGeom prst="roundRect">
            <a:avLst>
              <a:gd name="adj" fmla="val 18956"/>
            </a:avLst>
          </a:prstGeom>
          <a:noFill/>
          <a:ln w="7620">
            <a:solidFill>
              <a:srgbClr val="553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519" y="657939"/>
            <a:ext cx="988457" cy="20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37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999530"/>
            <a:ext cx="5395555" cy="471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Conclusion &amp; Next Steps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918573"/>
            <a:ext cx="3645456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✅</a:t>
            </a:r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 What We Achieved This Week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93790" y="2363391"/>
            <a:ext cx="3056096" cy="2072402"/>
          </a:xfrm>
          <a:prstGeom prst="roundRect">
            <a:avLst>
              <a:gd name="adj" fmla="val 3821"/>
            </a:avLst>
          </a:prstGeom>
          <a:solidFill>
            <a:srgbClr val="E3E6A5"/>
          </a:solidFill>
          <a:ln w="7620">
            <a:solidFill>
              <a:srgbClr val="C9CC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9886" y="2559487"/>
            <a:ext cx="2663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Landing Page Created &amp; Deployed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89886" y="3210044"/>
            <a:ext cx="2663904" cy="102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Fully responsive, mobile-first landing page built and live with lead capture and success redirect.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028956" y="2363391"/>
            <a:ext cx="3056215" cy="2072402"/>
          </a:xfrm>
          <a:prstGeom prst="roundRect">
            <a:avLst>
              <a:gd name="adj" fmla="val 3821"/>
            </a:avLst>
          </a:prstGeom>
          <a:solidFill>
            <a:srgbClr val="C4D0D2"/>
          </a:solidFill>
          <a:ln w="7620">
            <a:solidFill>
              <a:srgbClr val="AAB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5052" y="2559487"/>
            <a:ext cx="266402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Organic Testimonials Generated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225052" y="3210044"/>
            <a:ext cx="2664023" cy="1029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 genuine testimonials collected from real webinar attendees for immediate marketing use.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790" y="4614863"/>
            <a:ext cx="6291382" cy="1321832"/>
          </a:xfrm>
          <a:prstGeom prst="roundRect">
            <a:avLst>
              <a:gd name="adj" fmla="val 5991"/>
            </a:avLst>
          </a:prstGeom>
          <a:solidFill>
            <a:srgbClr val="FFDFD7"/>
          </a:solidFill>
          <a:ln w="7620">
            <a:solidFill>
              <a:srgbClr val="E5C5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9886" y="4810958"/>
            <a:ext cx="35415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Operational Systems Established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89886" y="5225772"/>
            <a:ext cx="5899190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Trello board, automations, templates, and labeling system fully set up and operational.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52849" y="1918573"/>
            <a:ext cx="2626400" cy="24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🚀</a:t>
            </a:r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553726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 Next Week Priorities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552849" y="2363391"/>
            <a:ext cx="6291382" cy="1656755"/>
          </a:xfrm>
          <a:prstGeom prst="roundRect">
            <a:avLst>
              <a:gd name="adj" fmla="val 6623"/>
            </a:avLst>
          </a:prstGeom>
          <a:solidFill>
            <a:srgbClr val="FFFEED"/>
          </a:solidFill>
          <a:ln w="22860">
            <a:solidFill>
              <a:srgbClr val="E3E6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9989" y="2363391"/>
            <a:ext cx="91440" cy="1656755"/>
          </a:xfrm>
          <a:prstGeom prst="roundRect">
            <a:avLst>
              <a:gd name="adj" fmla="val 86605"/>
            </a:avLst>
          </a:prstGeom>
          <a:solidFill>
            <a:srgbClr val="E3E6A5"/>
          </a:solidFill>
          <a:ln/>
        </p:spPr>
      </p:sp>
      <p:sp>
        <p:nvSpPr>
          <p:cNvPr id="18" name="Text 16"/>
          <p:cNvSpPr/>
          <p:nvPr/>
        </p:nvSpPr>
        <p:spPr>
          <a:xfrm>
            <a:off x="7832765" y="2574727"/>
            <a:ext cx="3310057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30-Day Content Calendar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32765" y="3036570"/>
            <a:ext cx="5800130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a structured 30-day content calendar featuring real human faces to grow brand trust and increase social media engagement and visibility.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52849" y="4199215"/>
            <a:ext cx="6291382" cy="1656755"/>
          </a:xfrm>
          <a:prstGeom prst="roundRect">
            <a:avLst>
              <a:gd name="adj" fmla="val 6623"/>
            </a:avLst>
          </a:prstGeom>
          <a:solidFill>
            <a:srgbClr val="FFFEED"/>
          </a:solidFill>
          <a:ln w="22860">
            <a:solidFill>
              <a:srgbClr val="C4D0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29989" y="4199215"/>
            <a:ext cx="91440" cy="1656755"/>
          </a:xfrm>
          <a:prstGeom prst="roundRect">
            <a:avLst>
              <a:gd name="adj" fmla="val 86605"/>
            </a:avLst>
          </a:prstGeom>
          <a:solidFill>
            <a:srgbClr val="C4D0D2"/>
          </a:solidFill>
          <a:ln/>
        </p:spPr>
      </p:sp>
      <p:sp>
        <p:nvSpPr>
          <p:cNvPr id="22" name="Text 20"/>
          <p:cNvSpPr/>
          <p:nvPr/>
        </p:nvSpPr>
        <p:spPr>
          <a:xfrm>
            <a:off x="7832765" y="4410551"/>
            <a:ext cx="3213497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Structured Lead Tracker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32765" y="4872395"/>
            <a:ext cx="5800130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 an organized, structured lead tracker to manage, segment, and follow up with all leads captured through the new automated funnel.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552849" y="6035040"/>
            <a:ext cx="6291382" cy="1399342"/>
          </a:xfrm>
          <a:prstGeom prst="roundRect">
            <a:avLst>
              <a:gd name="adj" fmla="val 7841"/>
            </a:avLst>
          </a:prstGeom>
          <a:solidFill>
            <a:srgbClr val="FFFEED"/>
          </a:solidFill>
          <a:ln w="22860">
            <a:solidFill>
              <a:srgbClr val="FFDF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29989" y="6035040"/>
            <a:ext cx="91440" cy="1399342"/>
          </a:xfrm>
          <a:prstGeom prst="roundRect">
            <a:avLst>
              <a:gd name="adj" fmla="val 86605"/>
            </a:avLst>
          </a:prstGeom>
          <a:solidFill>
            <a:srgbClr val="FFDFD7"/>
          </a:solidFill>
          <a:ln/>
        </p:spPr>
      </p:sp>
      <p:sp>
        <p:nvSpPr>
          <p:cNvPr id="26" name="Text 24"/>
          <p:cNvSpPr/>
          <p:nvPr/>
        </p:nvSpPr>
        <p:spPr>
          <a:xfrm>
            <a:off x="7832765" y="6246376"/>
            <a:ext cx="443007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Infographics &amp; Data Visualization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32765" y="6708219"/>
            <a:ext cx="5800130" cy="51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Include infographics and charts where necessary across content and reports to enhance communication of results and insights.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2026-03-26T12:48:37Z</dcterms:created>
  <dcterms:modified xsi:type="dcterms:W3CDTF">2026-03-26T12:48:37Z</dcterms:modified>
</cp:coreProperties>
</file>